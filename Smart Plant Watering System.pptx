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ormorant Garamond Bold Italics" panose="020B0604020202020204" charset="0"/>
      <p:regular r:id="rId10"/>
    </p:embeddedFont>
    <p:embeddedFont>
      <p:font typeface="Quicksand" panose="020B0604020202020204" charset="0"/>
      <p:regular r:id="rId11"/>
    </p:embeddedFont>
    <p:embeddedFont>
      <p:font typeface="Quicksand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30" y="26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3764" y="2649792"/>
            <a:ext cx="16229942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9"/>
              </a:lnSpc>
              <a:spcBef>
                <a:spcPct val="0"/>
              </a:spcBef>
            </a:pPr>
            <a:r>
              <a:rPr lang="en-US" sz="99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Smart Plant Monitoring System</a:t>
            </a:r>
          </a:p>
        </p:txBody>
      </p:sp>
      <p:sp>
        <p:nvSpPr>
          <p:cNvPr id="3" name="AutoShape 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AutoShape 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9618706" y="90374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752274" y="5048250"/>
            <a:ext cx="12812922" cy="837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44"/>
              </a:lnSpc>
              <a:spcBef>
                <a:spcPct val="0"/>
              </a:spcBef>
            </a:pPr>
            <a:r>
              <a:rPr lang="en-US" sz="48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Instructor: Prof.  Arpit Khandelwal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49752" y="7032069"/>
            <a:ext cx="6988496" cy="1623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7"/>
              </a:lnSpc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Team Members:</a:t>
            </a:r>
          </a:p>
          <a:p>
            <a:pPr algn="ctr">
              <a:lnSpc>
                <a:spcPts val="4397"/>
              </a:lnSpc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Jyotiraditya Singh Rathore B23ES1017</a:t>
            </a:r>
          </a:p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Shreyansh Agarwal B23PH1024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22179" y="1967581"/>
            <a:ext cx="11643643" cy="529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ES and IoT</a:t>
            </a:r>
          </a:p>
        </p:txBody>
      </p:sp>
      <p:sp>
        <p:nvSpPr>
          <p:cNvPr id="9" name="Freeform 9"/>
          <p:cNvSpPr/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2787317"/>
            <a:ext cx="15392400" cy="57383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>
              <a:lnSpc>
                <a:spcPts val="4079"/>
              </a:lnSpc>
              <a:buFont typeface="Arial"/>
              <a:buChar char="•"/>
            </a:pPr>
            <a:r>
              <a:rPr lang="en-US" sz="2800" b="1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Water Efficiency &amp; Sustainability: </a:t>
            </a:r>
            <a:r>
              <a:rPr lang="en-US" sz="28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Automate irrigation to reduce water wastage by watering only when soil moisture is low.</a:t>
            </a:r>
          </a:p>
          <a:p>
            <a:pPr marL="518160" lvl="1" indent="-259080">
              <a:lnSpc>
                <a:spcPts val="4079"/>
              </a:lnSpc>
              <a:buFont typeface="Arial"/>
              <a:buChar char="•"/>
            </a:pPr>
            <a:endParaRPr lang="en-US" sz="2800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518160" lvl="1" indent="-259080">
              <a:lnSpc>
                <a:spcPts val="4079"/>
              </a:lnSpc>
              <a:buFont typeface="Arial"/>
              <a:buChar char="•"/>
            </a:pPr>
            <a:r>
              <a:rPr lang="en-US" sz="2800" b="1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Low-Cost Smart Agriculture: </a:t>
            </a:r>
            <a:r>
              <a:rPr lang="en-US" sz="28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Provide an affordable, IoT-based solution using ESP8266 and basic sensors for small-scale farmers or gardeners.</a:t>
            </a:r>
          </a:p>
          <a:p>
            <a:pPr marL="518160" lvl="1" indent="-259080">
              <a:lnSpc>
                <a:spcPts val="4079"/>
              </a:lnSpc>
              <a:buFont typeface="Arial"/>
              <a:buChar char="•"/>
            </a:pPr>
            <a:endParaRPr lang="en-US" sz="2800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518160" lvl="1" indent="-259080">
              <a:lnSpc>
                <a:spcPts val="4079"/>
              </a:lnSpc>
              <a:buFont typeface="Arial"/>
              <a:buChar char="•"/>
            </a:pPr>
            <a:r>
              <a:rPr lang="en-US" sz="2800" b="1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Real-Time Remote Monitoring: </a:t>
            </a:r>
            <a:r>
              <a:rPr lang="en-US" sz="28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Enable users to monitor and control plant health from anywhere via MQTT promoting convenience and scalability.</a:t>
            </a:r>
          </a:p>
          <a:p>
            <a:pPr marL="518160" lvl="1" indent="-259080">
              <a:lnSpc>
                <a:spcPts val="4079"/>
              </a:lnSpc>
              <a:buFont typeface="Arial"/>
              <a:buChar char="•"/>
            </a:pPr>
            <a:endParaRPr lang="en-US" sz="2800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518160" lvl="1" indent="-259080">
              <a:lnSpc>
                <a:spcPts val="4079"/>
              </a:lnSpc>
              <a:buFont typeface="Arial"/>
              <a:buChar char="•"/>
            </a:pPr>
            <a:r>
              <a:rPr lang="en-US" sz="2800" b="1" u="none" strike="noStrike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Power-Efficient IoT Design:</a:t>
            </a:r>
            <a:r>
              <a:rPr lang="en-US" sz="2800" u="none" strike="noStrike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Implements event-based data publishing and periodic sensor polling to minimize energy consumption, ideal for low-power IoT environments.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80" y="2508638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AutoShape 4"/>
          <p:cNvSpPr/>
          <p:nvPr/>
        </p:nvSpPr>
        <p:spPr>
          <a:xfrm>
            <a:off x="6065301" y="8819096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8304001" y="1684924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028700" y="599709"/>
            <a:ext cx="804816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MOTIVATION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8304001" y="92583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93893" y="15849"/>
            <a:ext cx="4194107" cy="10271151"/>
            <a:chOff x="0" y="0"/>
            <a:chExt cx="1104621" cy="27051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8974931"/>
            <a:ext cx="1905000" cy="283369"/>
          </a:xfrm>
          <a:custGeom>
            <a:avLst/>
            <a:gdLst/>
            <a:ahLst/>
            <a:cxnLst/>
            <a:rect l="l" t="t" r="r" b="b"/>
            <a:pathLst>
              <a:path w="1905000" h="283369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354823" y="1930816"/>
            <a:ext cx="15836124" cy="675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9"/>
              </a:lnSpc>
            </a:pPr>
            <a:r>
              <a:rPr lang="en-US" sz="2270" b="1" dirty="0" err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i.Title</a:t>
            </a:r>
            <a:r>
              <a:rPr lang="en-US" sz="2270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: Smart Plant Monitoring System</a:t>
            </a:r>
          </a:p>
          <a:p>
            <a:pPr algn="l">
              <a:lnSpc>
                <a:spcPts val="3859"/>
              </a:lnSpc>
            </a:pPr>
            <a:r>
              <a:rPr lang="en-US" sz="2270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ii.</a:t>
            </a:r>
            <a:r>
              <a:rPr lang="en-US" sz="227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270" b="1" dirty="0" err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Objective:</a:t>
            </a:r>
            <a:r>
              <a:rPr lang="en-US" sz="2270" dirty="0" err="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</a:t>
            </a:r>
            <a:r>
              <a:rPr lang="en-US" sz="227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automate plant health monitoring </a:t>
            </a:r>
          </a:p>
          <a:p>
            <a:pPr algn="l">
              <a:lnSpc>
                <a:spcPts val="3859"/>
              </a:lnSpc>
            </a:pPr>
            <a:r>
              <a:rPr lang="en-US" sz="227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and using low-cost IoT components and enable remote control </a:t>
            </a:r>
          </a:p>
          <a:p>
            <a:pPr algn="l">
              <a:lnSpc>
                <a:spcPts val="3859"/>
              </a:lnSpc>
            </a:pPr>
            <a:r>
              <a:rPr lang="en-US" sz="227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and alerts via MQTT.</a:t>
            </a:r>
          </a:p>
          <a:p>
            <a:pPr algn="l">
              <a:lnSpc>
                <a:spcPts val="3859"/>
              </a:lnSpc>
            </a:pPr>
            <a:r>
              <a:rPr lang="en-US" sz="2270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iii. Key Features:</a:t>
            </a:r>
          </a:p>
          <a:p>
            <a:pPr marL="452433" lvl="1" indent="-226217" algn="l">
              <a:lnSpc>
                <a:spcPts val="3562"/>
              </a:lnSpc>
              <a:buFont typeface="Arial"/>
              <a:buChar char="•"/>
            </a:pPr>
            <a:r>
              <a:rPr lang="en-US" sz="2095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Soil moisture sensing with automatic and manual motor control</a:t>
            </a:r>
          </a:p>
          <a:p>
            <a:pPr marL="452433" lvl="1" indent="-226217" algn="l">
              <a:lnSpc>
                <a:spcPts val="3562"/>
              </a:lnSpc>
              <a:buFont typeface="Arial"/>
              <a:buChar char="•"/>
            </a:pPr>
            <a:r>
              <a:rPr lang="en-US" sz="2095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Temperature and humidity monitoring via DHT11</a:t>
            </a:r>
          </a:p>
          <a:p>
            <a:pPr marL="452433" lvl="1" indent="-226217" algn="l">
              <a:lnSpc>
                <a:spcPts val="3562"/>
              </a:lnSpc>
              <a:buFont typeface="Arial"/>
              <a:buChar char="•"/>
            </a:pPr>
            <a:r>
              <a:rPr lang="en-US" sz="2095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Nutrient (NPK) measurement using Modbus communication</a:t>
            </a:r>
          </a:p>
          <a:p>
            <a:pPr marL="452433" lvl="1" indent="-226217" algn="l">
              <a:lnSpc>
                <a:spcPts val="3562"/>
              </a:lnSpc>
              <a:buFont typeface="Arial"/>
              <a:buChar char="•"/>
            </a:pPr>
            <a:r>
              <a:rPr lang="en-US" sz="2095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Motion detection using PIR sensors</a:t>
            </a:r>
          </a:p>
          <a:p>
            <a:pPr marL="452433" lvl="1" indent="-226217" algn="l">
              <a:lnSpc>
                <a:spcPts val="3562"/>
              </a:lnSpc>
              <a:buFont typeface="Arial"/>
              <a:buChar char="•"/>
            </a:pPr>
            <a:r>
              <a:rPr lang="en-US" sz="2095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Real-time data publishing and alerts using MQTT</a:t>
            </a:r>
          </a:p>
          <a:p>
            <a:pPr algn="l">
              <a:lnSpc>
                <a:spcPts val="3859"/>
              </a:lnSpc>
            </a:pPr>
            <a:r>
              <a:rPr lang="en-US" sz="2270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iv. Target </a:t>
            </a:r>
            <a:r>
              <a:rPr lang="en-US" sz="2270" b="1" dirty="0" err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Users:</a:t>
            </a:r>
            <a:r>
              <a:rPr lang="en-US" sz="2270" dirty="0" err="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Home</a:t>
            </a:r>
            <a:r>
              <a:rPr lang="en-US" sz="227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gardeners, small-scale </a:t>
            </a:r>
            <a:r>
              <a:rPr lang="en-US" sz="2270" dirty="0" err="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farmers,agricultural</a:t>
            </a:r>
            <a:r>
              <a:rPr lang="en-US" sz="227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researchers, </a:t>
            </a:r>
          </a:p>
          <a:p>
            <a:pPr algn="l">
              <a:lnSpc>
                <a:spcPts val="3859"/>
              </a:lnSpc>
            </a:pPr>
            <a:r>
              <a:rPr lang="en-US" sz="227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and IoT learners.</a:t>
            </a:r>
          </a:p>
          <a:p>
            <a:pPr algn="l">
              <a:lnSpc>
                <a:spcPts val="3859"/>
              </a:lnSpc>
            </a:pPr>
            <a:r>
              <a:rPr lang="en-US" sz="2270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v. Technologies Used: </a:t>
            </a:r>
            <a:r>
              <a:rPr lang="en-US" sz="227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Hardware: ESP8266 </a:t>
            </a:r>
            <a:r>
              <a:rPr lang="en-US" sz="2270" dirty="0" err="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NodeMCU</a:t>
            </a:r>
            <a:r>
              <a:rPr lang="en-US" sz="227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DHT11, Moisture sensors, PIR sensors, NPK sensor, </a:t>
            </a:r>
          </a:p>
          <a:p>
            <a:pPr algn="l">
              <a:lnSpc>
                <a:spcPts val="3859"/>
              </a:lnSpc>
            </a:pPr>
            <a:r>
              <a:rPr lang="en-US" sz="227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Motors, MQTT protocol, </a:t>
            </a:r>
            <a:r>
              <a:rPr lang="en-US" sz="2270" dirty="0" err="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PubSubClient</a:t>
            </a:r>
            <a:r>
              <a:rPr lang="en-US" sz="227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</a:t>
            </a:r>
            <a:r>
              <a:rPr lang="en-US" sz="2270" dirty="0" err="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ModbusMaster</a:t>
            </a:r>
            <a:r>
              <a:rPr lang="en-US" sz="227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library.</a:t>
            </a:r>
          </a:p>
        </p:txBody>
      </p:sp>
      <p:sp>
        <p:nvSpPr>
          <p:cNvPr id="7" name="Freeform 7"/>
          <p:cNvSpPr/>
          <p:nvPr/>
        </p:nvSpPr>
        <p:spPr>
          <a:xfrm>
            <a:off x="12677143" y="714009"/>
            <a:ext cx="4752522" cy="6748357"/>
          </a:xfrm>
          <a:custGeom>
            <a:avLst/>
            <a:gdLst/>
            <a:ahLst/>
            <a:cxnLst/>
            <a:rect l="l" t="t" r="r" b="b"/>
            <a:pathLst>
              <a:path w="4752522" h="6748357">
                <a:moveTo>
                  <a:pt x="0" y="0"/>
                </a:moveTo>
                <a:lnTo>
                  <a:pt x="4752522" y="0"/>
                </a:lnTo>
                <a:lnTo>
                  <a:pt x="4752522" y="6748357"/>
                </a:lnTo>
                <a:lnTo>
                  <a:pt x="0" y="67483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93" t="-20256" b="-3520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028700" y="599709"/>
            <a:ext cx="939024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PROJECT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93893" y="15849"/>
            <a:ext cx="4194107" cy="10271151"/>
            <a:chOff x="0" y="0"/>
            <a:chExt cx="1104621" cy="27051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8974931"/>
            <a:ext cx="1905000" cy="283369"/>
          </a:xfrm>
          <a:custGeom>
            <a:avLst/>
            <a:gdLst/>
            <a:ahLst/>
            <a:cxnLst/>
            <a:rect l="l" t="t" r="r" b="b"/>
            <a:pathLst>
              <a:path w="1905000" h="283369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354823" y="1779415"/>
            <a:ext cx="12601792" cy="7509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180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Initialization:</a:t>
            </a:r>
          </a:p>
          <a:p>
            <a:pPr marL="390032" lvl="1" indent="-195016" algn="l">
              <a:lnSpc>
                <a:spcPts val="3071"/>
              </a:lnSpc>
              <a:buFont typeface="Arial"/>
              <a:buChar char="•"/>
            </a:pPr>
            <a:r>
              <a:rPr lang="en-US" sz="180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ESP8266 connects to Wi-Fi.</a:t>
            </a:r>
          </a:p>
          <a:p>
            <a:pPr marL="390032" lvl="1" indent="-195016" algn="l">
              <a:lnSpc>
                <a:spcPts val="3071"/>
              </a:lnSpc>
              <a:buFont typeface="Arial"/>
              <a:buChar char="•"/>
            </a:pPr>
            <a:r>
              <a:rPr lang="en-US" sz="180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MQTT client connects to the MQTT broker.</a:t>
            </a:r>
          </a:p>
          <a:p>
            <a:pPr marL="390032" lvl="1" indent="-195016" algn="l">
              <a:lnSpc>
                <a:spcPts val="3071"/>
              </a:lnSpc>
              <a:buFont typeface="Arial"/>
              <a:buChar char="•"/>
            </a:pPr>
            <a:r>
              <a:rPr lang="en-US" sz="180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Sensors (moisture, PIR, temperature, humidity, NPK) are read, and initial data is published.</a:t>
            </a:r>
          </a:p>
          <a:p>
            <a:pPr algn="l">
              <a:lnSpc>
                <a:spcPts val="3071"/>
              </a:lnSpc>
            </a:pPr>
            <a:r>
              <a:rPr lang="en-US" sz="180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Sensor Data Collection:</a:t>
            </a:r>
          </a:p>
          <a:p>
            <a:pPr marL="390032" lvl="1" indent="-195016" algn="l">
              <a:lnSpc>
                <a:spcPts val="3071"/>
              </a:lnSpc>
              <a:buFont typeface="Arial"/>
              <a:buChar char="•"/>
            </a:pPr>
            <a:r>
              <a:rPr lang="en-US" sz="180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Periodic readings from moisture sensors, PIR sensors, DHT11, and NPK sensor.</a:t>
            </a:r>
          </a:p>
          <a:p>
            <a:pPr marL="390032" lvl="1" indent="-195016" algn="l">
              <a:lnSpc>
                <a:spcPts val="3071"/>
              </a:lnSpc>
              <a:buFont typeface="Arial"/>
              <a:buChar char="•"/>
            </a:pPr>
            <a:r>
              <a:rPr lang="en-US" sz="180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Moisture levels are compared to thresholds to decide if watering is needed.</a:t>
            </a:r>
          </a:p>
          <a:p>
            <a:pPr algn="l">
              <a:lnSpc>
                <a:spcPts val="3071"/>
              </a:lnSpc>
            </a:pPr>
            <a:r>
              <a:rPr lang="en-US" sz="180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Motor Control:</a:t>
            </a:r>
          </a:p>
          <a:p>
            <a:pPr marL="390032" lvl="1" indent="-195016" algn="l">
              <a:lnSpc>
                <a:spcPts val="3071"/>
              </a:lnSpc>
              <a:buFont typeface="Arial"/>
              <a:buChar char="•"/>
            </a:pPr>
            <a:r>
              <a:rPr lang="en-US" sz="180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If moisture is below threshold, motor starts watering the plant.</a:t>
            </a:r>
          </a:p>
          <a:p>
            <a:pPr marL="390032" lvl="1" indent="-195016" algn="l">
              <a:lnSpc>
                <a:spcPts val="3071"/>
              </a:lnSpc>
              <a:buFont typeface="Arial"/>
              <a:buChar char="•"/>
            </a:pPr>
            <a:r>
              <a:rPr lang="en-US" sz="180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If moisture is above threshold, motor stops watering.</a:t>
            </a:r>
          </a:p>
          <a:p>
            <a:pPr marL="390032" lvl="1" indent="-195016" algn="l">
              <a:lnSpc>
                <a:spcPts val="3071"/>
              </a:lnSpc>
              <a:buFont typeface="Arial"/>
              <a:buChar char="•"/>
            </a:pPr>
            <a:r>
              <a:rPr lang="en-US" sz="180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Manual motor control via MQTT commands.</a:t>
            </a:r>
          </a:p>
          <a:p>
            <a:pPr algn="l">
              <a:lnSpc>
                <a:spcPts val="3071"/>
              </a:lnSpc>
            </a:pPr>
            <a:r>
              <a:rPr lang="en-US" sz="180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Data Publishing:</a:t>
            </a:r>
          </a:p>
          <a:p>
            <a:pPr marL="390032" lvl="1" indent="-195016" algn="l">
              <a:lnSpc>
                <a:spcPts val="3071"/>
              </a:lnSpc>
              <a:buFont typeface="Arial"/>
              <a:buChar char="•"/>
            </a:pPr>
            <a:r>
              <a:rPr lang="en-US" sz="180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Sensor data (moisture, PIR, temperature, humidity, NPK) is published to MQTT topics.</a:t>
            </a:r>
          </a:p>
          <a:p>
            <a:pPr marL="390032" lvl="1" indent="-195016" algn="l">
              <a:lnSpc>
                <a:spcPts val="3071"/>
              </a:lnSpc>
              <a:buFont typeface="Arial"/>
              <a:buChar char="•"/>
            </a:pPr>
            <a:r>
              <a:rPr lang="en-US" sz="180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Only updated values are sent to reduce traffic and power consumption.</a:t>
            </a:r>
          </a:p>
          <a:p>
            <a:pPr marL="390032" lvl="1" indent="-195016" algn="l">
              <a:lnSpc>
                <a:spcPts val="3071"/>
              </a:lnSpc>
              <a:buFont typeface="Arial"/>
              <a:buChar char="•"/>
            </a:pPr>
            <a:r>
              <a:rPr lang="en-US" sz="180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Notifications:</a:t>
            </a:r>
          </a:p>
          <a:p>
            <a:pPr marL="652216" lvl="2">
              <a:lnSpc>
                <a:spcPts val="3071"/>
              </a:lnSpc>
            </a:pPr>
            <a:r>
              <a:rPr lang="en-US" sz="180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Notifications (e.g., watering started/stopped, motion detected) are sent to MQTT for monitoring.</a:t>
            </a:r>
          </a:p>
          <a:p>
            <a:pPr marL="390032" lvl="1" indent="-195016" algn="l">
              <a:lnSpc>
                <a:spcPts val="3071"/>
              </a:lnSpc>
              <a:buFont typeface="Arial"/>
              <a:buChar char="•"/>
            </a:pPr>
            <a:r>
              <a:rPr lang="en-US" sz="180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Wi-Fi/MQTT Reconnection:</a:t>
            </a:r>
          </a:p>
          <a:p>
            <a:pPr marL="652216" lvl="2">
              <a:lnSpc>
                <a:spcPts val="3071"/>
              </a:lnSpc>
            </a:pPr>
            <a:r>
              <a:rPr lang="en-US" sz="1806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Automatically reconnects if Wi-Fi or MQTT connection drops.</a:t>
            </a:r>
          </a:p>
          <a:p>
            <a:pPr algn="l">
              <a:lnSpc>
                <a:spcPts val="3071"/>
              </a:lnSpc>
            </a:pPr>
            <a:endParaRPr lang="en-US" sz="1806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599709"/>
            <a:ext cx="939024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93893" y="15849"/>
            <a:ext cx="4194107" cy="10271151"/>
            <a:chOff x="0" y="0"/>
            <a:chExt cx="1104621" cy="27051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8974931"/>
            <a:ext cx="1905000" cy="283369"/>
          </a:xfrm>
          <a:custGeom>
            <a:avLst/>
            <a:gdLst/>
            <a:ahLst/>
            <a:cxnLst/>
            <a:rect l="l" t="t" r="r" b="b"/>
            <a:pathLst>
              <a:path w="1905000" h="283369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838485" y="1362490"/>
            <a:ext cx="12601792" cy="7895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106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ESP8266:</a:t>
            </a:r>
          </a:p>
          <a:p>
            <a:pPr marL="454800" lvl="1" indent="-227400" algn="l">
              <a:lnSpc>
                <a:spcPts val="3581"/>
              </a:lnSpc>
              <a:buFont typeface="Arial"/>
              <a:buChar char="•"/>
            </a:pPr>
            <a:r>
              <a:rPr lang="en-US" sz="210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Controls sensors and motors.</a:t>
            </a:r>
          </a:p>
          <a:p>
            <a:pPr marL="454800" lvl="1" indent="-227400" algn="l">
              <a:lnSpc>
                <a:spcPts val="3581"/>
              </a:lnSpc>
              <a:buFont typeface="Arial"/>
              <a:buChar char="•"/>
            </a:pPr>
            <a:r>
              <a:rPr lang="en-US" sz="210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Manages Wi-Fi and MQTT communication</a:t>
            </a:r>
            <a:r>
              <a:rPr lang="en-US" sz="2106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.</a:t>
            </a:r>
          </a:p>
          <a:p>
            <a:pPr algn="l">
              <a:lnSpc>
                <a:spcPts val="3581"/>
              </a:lnSpc>
            </a:pPr>
            <a:r>
              <a:rPr lang="en-US" sz="2106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Wi-Fi Network:</a:t>
            </a:r>
          </a:p>
          <a:p>
            <a:pPr marL="454800" lvl="1" indent="-227400" algn="l">
              <a:lnSpc>
                <a:spcPts val="3581"/>
              </a:lnSpc>
              <a:buFont typeface="Arial"/>
              <a:buChar char="•"/>
            </a:pPr>
            <a:r>
              <a:rPr lang="en-US" sz="210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ESP8266 connects to a local Wi-Fi network to access the MQTT broker.</a:t>
            </a:r>
          </a:p>
          <a:p>
            <a:pPr algn="l">
              <a:lnSpc>
                <a:spcPts val="3581"/>
              </a:lnSpc>
            </a:pPr>
            <a:r>
              <a:rPr lang="en-US" sz="2106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MQTT Broker:</a:t>
            </a:r>
          </a:p>
          <a:p>
            <a:pPr marL="454800" lvl="1" indent="-227400" algn="l">
              <a:lnSpc>
                <a:spcPts val="3581"/>
              </a:lnSpc>
              <a:buFont typeface="Arial"/>
              <a:buChar char="•"/>
            </a:pPr>
            <a:r>
              <a:rPr lang="en-US" sz="210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Acts as a central point for communication, receiving sensor data and sending </a:t>
            </a:r>
          </a:p>
          <a:p>
            <a:pPr algn="l">
              <a:lnSpc>
                <a:spcPts val="3581"/>
              </a:lnSpc>
            </a:pPr>
            <a:r>
              <a:rPr lang="en-US" sz="210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motor control commands.</a:t>
            </a:r>
          </a:p>
          <a:p>
            <a:pPr algn="l">
              <a:lnSpc>
                <a:spcPts val="3581"/>
              </a:lnSpc>
            </a:pPr>
            <a:r>
              <a:rPr lang="en-US" sz="2106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Sensors:</a:t>
            </a:r>
          </a:p>
          <a:p>
            <a:pPr marL="454800" lvl="1" indent="-227400" algn="l">
              <a:lnSpc>
                <a:spcPts val="3581"/>
              </a:lnSpc>
              <a:buFont typeface="Arial"/>
              <a:buChar char="•"/>
            </a:pPr>
            <a:r>
              <a:rPr lang="en-US" sz="210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Moisture Sensors: For soil moisture measurement.</a:t>
            </a:r>
          </a:p>
          <a:p>
            <a:pPr marL="454800" lvl="1" indent="-227400" algn="l">
              <a:lnSpc>
                <a:spcPts val="3581"/>
              </a:lnSpc>
              <a:buFont typeface="Arial"/>
              <a:buChar char="•"/>
            </a:pPr>
            <a:r>
              <a:rPr lang="en-US" sz="210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PIR Sensors: For motion detection.</a:t>
            </a:r>
          </a:p>
          <a:p>
            <a:pPr marL="454800" lvl="1" indent="-227400" algn="l">
              <a:lnSpc>
                <a:spcPts val="3581"/>
              </a:lnSpc>
              <a:buFont typeface="Arial"/>
              <a:buChar char="•"/>
            </a:pPr>
            <a:r>
              <a:rPr lang="en-US" sz="210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Temperature and Humidity (DHT11): For environmental monitoring.</a:t>
            </a:r>
          </a:p>
          <a:p>
            <a:pPr marL="454800" lvl="1" indent="-227400" algn="l">
              <a:lnSpc>
                <a:spcPts val="3581"/>
              </a:lnSpc>
              <a:buFont typeface="Arial"/>
              <a:buChar char="•"/>
            </a:pPr>
            <a:r>
              <a:rPr lang="en-US" sz="210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NPK Sensor: For soil nutrition (using Modbus communication).</a:t>
            </a:r>
          </a:p>
          <a:p>
            <a:pPr algn="l">
              <a:lnSpc>
                <a:spcPts val="3581"/>
              </a:lnSpc>
            </a:pPr>
            <a:r>
              <a:rPr lang="en-US" sz="2106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Motor Control:</a:t>
            </a:r>
          </a:p>
          <a:p>
            <a:pPr marL="454800" lvl="1" indent="-227400" algn="l">
              <a:lnSpc>
                <a:spcPts val="3581"/>
              </a:lnSpc>
              <a:buFont typeface="Arial"/>
              <a:buChar char="•"/>
            </a:pPr>
            <a:r>
              <a:rPr lang="en-US" sz="210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Motors are activated/deactivated based on soil moisture readings and user input</a:t>
            </a:r>
          </a:p>
          <a:p>
            <a:pPr algn="l">
              <a:lnSpc>
                <a:spcPts val="3581"/>
              </a:lnSpc>
            </a:pPr>
            <a:r>
              <a:rPr lang="en-US" sz="210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(via MQTT).</a:t>
            </a:r>
          </a:p>
          <a:p>
            <a:pPr algn="l">
              <a:lnSpc>
                <a:spcPts val="3071"/>
              </a:lnSpc>
            </a:pPr>
            <a:endParaRPr lang="en-US" sz="2106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3071"/>
              </a:lnSpc>
            </a:pPr>
            <a:endParaRPr lang="en-US" sz="2106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1553688" y="1457740"/>
            <a:ext cx="6356958" cy="6356958"/>
          </a:xfrm>
          <a:custGeom>
            <a:avLst/>
            <a:gdLst/>
            <a:ahLst/>
            <a:cxnLst/>
            <a:rect l="l" t="t" r="r" b="b"/>
            <a:pathLst>
              <a:path w="6356958" h="6356958">
                <a:moveTo>
                  <a:pt x="0" y="0"/>
                </a:moveTo>
                <a:lnTo>
                  <a:pt x="6356959" y="0"/>
                </a:lnTo>
                <a:lnTo>
                  <a:pt x="63569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2163445" y="114252"/>
            <a:ext cx="939024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3048472"/>
            <a:ext cx="16411736" cy="5365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77394" lvl="1" indent="-338697">
              <a:lnSpc>
                <a:spcPts val="5333"/>
              </a:lnSpc>
              <a:buFont typeface="Arial"/>
              <a:buChar char="•"/>
            </a:pPr>
            <a:r>
              <a:rPr lang="en-US" sz="32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Successfully built a smart system that monitors soil moisture, temperature, humidity, NPK levels, and motion, triggering irrigation automatically when needed.</a:t>
            </a:r>
          </a:p>
          <a:p>
            <a:pPr marL="677394" lvl="1" indent="-338697">
              <a:lnSpc>
                <a:spcPts val="5333"/>
              </a:lnSpc>
              <a:buFont typeface="Arial"/>
              <a:buChar char="•"/>
            </a:pPr>
            <a:endParaRPr lang="en-US" sz="3200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77394" lvl="1" indent="-338697">
              <a:lnSpc>
                <a:spcPts val="5333"/>
              </a:lnSpc>
              <a:buFont typeface="Arial"/>
              <a:buChar char="•"/>
            </a:pPr>
            <a:r>
              <a:rPr lang="en-US" sz="32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Gained hands-on experience with ESP8266, sensor integration, and real-time data communication using MQTT.</a:t>
            </a:r>
          </a:p>
          <a:p>
            <a:pPr marL="677394" lvl="1" indent="-338697">
              <a:lnSpc>
                <a:spcPts val="5333"/>
              </a:lnSpc>
              <a:buFont typeface="Arial"/>
              <a:buChar char="•"/>
            </a:pPr>
            <a:endParaRPr lang="en-US" sz="3200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77394" lvl="1" indent="-338697">
              <a:lnSpc>
                <a:spcPts val="5333"/>
              </a:lnSpc>
              <a:buFont typeface="Arial"/>
              <a:buChar char="•"/>
            </a:pPr>
            <a:r>
              <a:rPr lang="en-US" sz="3200" u="none" strike="noStrike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Understood the fundamentals of IoT-based automation, including sensor calibration, wireless communication, and embedded system design.</a:t>
            </a:r>
          </a:p>
        </p:txBody>
      </p:sp>
      <p:sp>
        <p:nvSpPr>
          <p:cNvPr id="3" name="AutoShape 3"/>
          <p:cNvSpPr/>
          <p:nvPr/>
        </p:nvSpPr>
        <p:spPr>
          <a:xfrm>
            <a:off x="4093391" y="2508638"/>
            <a:ext cx="12775545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AutoShape 4"/>
          <p:cNvSpPr/>
          <p:nvPr/>
        </p:nvSpPr>
        <p:spPr>
          <a:xfrm flipV="1">
            <a:off x="4093391" y="8819096"/>
            <a:ext cx="12775545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9144000" y="1684924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028700" y="599709"/>
            <a:ext cx="804816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Results and Learning</a:t>
            </a:r>
          </a:p>
        </p:txBody>
      </p:sp>
      <p:sp>
        <p:nvSpPr>
          <p:cNvPr id="7" name="Freeform 7"/>
          <p:cNvSpPr/>
          <p:nvPr/>
        </p:nvSpPr>
        <p:spPr>
          <a:xfrm>
            <a:off x="9144000" y="939059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9761" y="0"/>
            <a:ext cx="9838239" cy="10287000"/>
            <a:chOff x="0" y="0"/>
            <a:chExt cx="259114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91141" cy="2709333"/>
            </a:xfrm>
            <a:custGeom>
              <a:avLst/>
              <a:gdLst/>
              <a:ahLst/>
              <a:cxnLst/>
              <a:rect l="l" t="t" r="r" b="b"/>
              <a:pathLst>
                <a:path w="2591141" h="2709333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169602"/>
            <a:ext cx="9480749" cy="105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679"/>
              </a:lnSpc>
              <a:spcBef>
                <a:spcPct val="0"/>
              </a:spcBef>
            </a:pPr>
            <a:r>
              <a:rPr lang="en-US" sz="61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FUTURE SCOPE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52617" y="2341806"/>
            <a:ext cx="10007431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Integration of image processing and machine learning to detect plant diseases, nutrient deficiencies, or pest infestations using camera input.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52617" y="4819525"/>
            <a:ext cx="8606683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Use of NPK and moisture sensor data to automatically control nutrient injectors and irrigation systems for optimal plant growth (precision agriculture).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52617" y="1561099"/>
            <a:ext cx="8606683" cy="518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5"/>
              </a:lnSpc>
            </a:pPr>
            <a:r>
              <a:rPr lang="en-US" sz="2638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AI-Based Plant Health Diagnosis: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52617" y="4234595"/>
            <a:ext cx="8606683" cy="518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5"/>
              </a:lnSpc>
            </a:pPr>
            <a:r>
              <a:rPr lang="en-US" sz="2638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Automated Nutrient and Water Dosing: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19448" y="5259898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>
            <a:off x="619448" y="4060012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8652617" y="6715000"/>
            <a:ext cx="8606683" cy="518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5"/>
              </a:lnSpc>
            </a:pPr>
            <a:r>
              <a:rPr lang="en-US" sz="2638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Cloud Connectivity and Mobile App Integration: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52617" y="7614255"/>
            <a:ext cx="8606683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Real-time monitoring and control via a mobile app or web dashboard, with features like historical trends, plant care reminders, and push notifications for anomalies.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42710" y="3369664"/>
            <a:ext cx="11402580" cy="318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9"/>
              </a:lnSpc>
              <a:spcBef>
                <a:spcPct val="0"/>
              </a:spcBef>
            </a:pPr>
            <a:r>
              <a:rPr lang="en-US" sz="18577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8304001" y="111666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AutoShape 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8304001" y="90084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671</Words>
  <Application>Microsoft Office PowerPoint</Application>
  <PresentationFormat>Custom</PresentationFormat>
  <Paragraphs>79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Quicksand</vt:lpstr>
      <vt:lpstr>Cormorant Garamond Bold Italics</vt:lpstr>
      <vt:lpstr>Calibri</vt:lpstr>
      <vt:lpstr>Arial</vt:lpstr>
      <vt:lpstr>Quicksand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Simple Modern Enhancing Sales Strategy Presentation</dc:title>
  <cp:lastModifiedBy>Shreyansh Agarwal</cp:lastModifiedBy>
  <cp:revision>4</cp:revision>
  <dcterms:created xsi:type="dcterms:W3CDTF">2006-08-16T00:00:00Z</dcterms:created>
  <dcterms:modified xsi:type="dcterms:W3CDTF">2025-04-30T04:42:29Z</dcterms:modified>
  <dc:identifier>DAGmEcC1Htc</dc:identifier>
</cp:coreProperties>
</file>